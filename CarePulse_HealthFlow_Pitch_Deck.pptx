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6583680" cy="5394960"/>
          </a:xfrm>
          <a:prstGeom prst="roundRect">
            <a:avLst/>
          </a:prstGeom>
          <a:solidFill>
            <a:srgbClr val="111827"/>
          </a:solidFill>
          <a:ln w="15240">
            <a:solidFill>
              <a:srgbClr val="263452"/>
            </a:solidFill>
          </a:ln>
        </p:spPr>
        <p:style>
          <a:lnRef idx="1">
            <a:schemeClr val="accent1"/>
          </a:lnRef>
          <a:fillRef idx="3">
            <a:schemeClr val="accent1"/>
          </a:fillRef>
          <a:effectRef idx="2">
            <a:schemeClr val="accent1"/>
          </a:effectRef>
          <a:fontRef idx="minor">
            <a:schemeClr val="lt1"/>
          </a:fontRef>
        </p:style>
        <p:txBody>
          <a:bodyPr rtlCol="0" anchor="t" wrap="square" lIns="365760" rIns="365760" tIns="365760"/>
          <a:lstStyle/>
          <a:p>
            <a:pPr algn="ctr">
              <a:spcAft>
                <a:spcPts val="1400"/>
              </a:spcAft>
              <a:defRPr sz="1100" b="1">
                <a:solidFill>
                  <a:srgbClr val="0EA5E9"/>
                </a:solidFill>
                <a:latin typeface="Arial"/>
              </a:defRPr>
            </a:pPr>
            <a:r>
              <a:t>SMART HEALTHCARE PLATFORM // SIH 2026 READY</a:t>
            </a:r>
          </a:p>
          <a:p>
            <a:pPr>
              <a:spcAft>
                <a:spcPts val="800"/>
              </a:spcAft>
              <a:defRPr sz="3600" b="1">
                <a:solidFill>
                  <a:srgbClr val="FFFFFF"/>
                </a:solidFill>
                <a:latin typeface="Arial"/>
              </a:defRPr>
            </a:pPr>
            <a:r>
              <a:t>CarePulse HealthFlow</a:t>
            </a:r>
          </a:p>
          <a:p>
            <a:pPr>
              <a:spcAft>
                <a:spcPts val="1600"/>
              </a:spcAft>
              <a:defRPr sz="1500" b="1">
                <a:solidFill>
                  <a:srgbClr val="10B981"/>
                </a:solidFill>
                <a:latin typeface="Arial"/>
              </a:defRPr>
            </a:pPr>
            <a:r>
              <a:t>Smart Healthcare Facility Finder, Real-Time OPD Queue Tokens &amp; Zero-Travel Consultations</a:t>
            </a:r>
          </a:p>
          <a:p>
            <a:pPr>
              <a:spcAft>
                <a:spcPts val="2800"/>
              </a:spcAft>
              <a:defRPr sz="1200">
                <a:solidFill>
                  <a:srgbClr val="94A3B8"/>
                </a:solidFill>
                <a:latin typeface="Arial"/>
              </a:defRPr>
            </a:pPr>
            <a:r>
              <a:t>Eliminating hospital hallway overcrowding and hours wasted in waiting rooms. Patients discover live facility capacity, secure digital queue passes remotely, and receive predictive 'Leave Home Now' transit alerts to arrive just-in-time.</a:t>
            </a:r>
          </a:p>
          <a:p>
            <a:pPr>
              <a:defRPr sz="1100" b="1">
                <a:solidFill>
                  <a:srgbClr val="E2E8F0"/>
                </a:solidFill>
                <a:latin typeface="Arial"/>
              </a:defRPr>
            </a:pPr>
            <a:r>
              <a:t>PRODUCED BY: Damu-000  |  TEAM: HealthFlow Core  |  VERSION: 2.4.0 (Production)</a:t>
            </a:r>
          </a:p>
        </p:txBody>
      </p:sp>
      <p:pic>
        <p:nvPicPr>
          <p:cNvPr id="4" name="Picture 3" descr="hero-banner.jpg"/>
          <p:cNvPicPr>
            <a:picLocks noChangeAspect="1"/>
          </p:cNvPicPr>
          <p:nvPr/>
        </p:nvPicPr>
        <p:blipFill>
          <a:blip r:embed="rId2"/>
          <a:stretch>
            <a:fillRect/>
          </a:stretch>
        </p:blipFill>
        <p:spPr>
          <a:xfrm>
            <a:off x="7589520" y="731520"/>
            <a:ext cx="3840480" cy="2560320"/>
          </a:xfrm>
          <a:prstGeom prst="rect">
            <a:avLst/>
          </a:prstGeom>
        </p:spPr>
      </p:pic>
      <p:sp>
        <p:nvSpPr>
          <p:cNvPr id="5" name="Rounded Rectangle 4"/>
          <p:cNvSpPr/>
          <p:nvPr/>
        </p:nvSpPr>
        <p:spPr>
          <a:xfrm>
            <a:off x="7589520" y="3474720"/>
            <a:ext cx="3840480" cy="1188720"/>
          </a:xfrm>
          <a:prstGeom prst="roundRect">
            <a:avLst/>
          </a:prstGeom>
          <a:solidFill>
            <a:srgbClr val="182136"/>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0EA5E9"/>
                </a:solidFill>
                <a:latin typeface="Arial"/>
              </a:defRPr>
            </a:pPr>
            <a:r>
              <a:t>⚡ PREDICTIVE QUEUE ENGINE</a:t>
            </a:r>
          </a:p>
          <a:p>
            <a:pPr>
              <a:defRPr sz="1050">
                <a:solidFill>
                  <a:srgbClr val="94A3B8"/>
                </a:solidFill>
              </a:defRPr>
            </a:pPr>
            <a:r>
              <a:t>Calculates exact wait times based on queue velocity and sends automated commute alerts.</a:t>
            </a:r>
          </a:p>
        </p:txBody>
      </p:sp>
      <p:sp>
        <p:nvSpPr>
          <p:cNvPr id="6" name="Rounded Rectangle 5"/>
          <p:cNvSpPr/>
          <p:nvPr/>
        </p:nvSpPr>
        <p:spPr>
          <a:xfrm>
            <a:off x="7589520" y="4846320"/>
            <a:ext cx="3840480" cy="1280160"/>
          </a:xfrm>
          <a:prstGeom prst="roundRect">
            <a:avLst/>
          </a:prstGeom>
          <a:solidFill>
            <a:srgbClr val="182136"/>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10B981"/>
                </a:solidFill>
                <a:latin typeface="Arial"/>
              </a:defRPr>
            </a:pPr>
            <a:r>
              <a:t>🩺 CLINICAL TRIAGE MATRIX</a:t>
            </a:r>
          </a:p>
          <a:p>
            <a:pPr>
              <a:defRPr sz="1050">
                <a:solidFill>
                  <a:srgbClr val="94A3B8"/>
                </a:solidFill>
              </a:defRPr>
            </a:pPr>
            <a:r>
              <a:t>Instant 4-tier risk routing: Home Care, Video Teleconsult, Urgent OPD, or Emergency SOS.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PROBLEM STATEMENT // HEALTHCARE BOTTLENECK</a:t>
            </a:r>
          </a:p>
          <a:p>
            <a:pPr>
              <a:spcAft>
                <a:spcPts val="400"/>
              </a:spcAft>
              <a:defRPr sz="2200" b="1">
                <a:solidFill>
                  <a:srgbClr val="FFFFFF"/>
                </a:solidFill>
                <a:latin typeface="Arial"/>
              </a:defRPr>
            </a:pPr>
            <a:r>
              <a:t>The Waiting Room Crisis: Idle Hours, Infection Risks &amp; Blind Travel</a:t>
            </a:r>
          </a:p>
          <a:p>
            <a:pPr>
              <a:defRPr sz="1200">
                <a:solidFill>
                  <a:srgbClr val="94A3B8"/>
                </a:solidFill>
                <a:latin typeface="Arial"/>
              </a:defRPr>
            </a:pPr>
            <a:r>
              <a:t>Traditional outpatient (OPD) departments suffer from severe operational friction and lack of visibility.</a:t>
            </a:r>
          </a:p>
        </p:txBody>
      </p:sp>
      <p:sp>
        <p:nvSpPr>
          <p:cNvPr id="4" name="Rounded Rectangle 3"/>
          <p:cNvSpPr/>
          <p:nvPr/>
        </p:nvSpPr>
        <p:spPr>
          <a:xfrm>
            <a:off x="731520" y="1645920"/>
            <a:ext cx="5212080" cy="1828800"/>
          </a:xfrm>
          <a:prstGeom prst="roundRect">
            <a:avLst/>
          </a:prstGeom>
          <a:solidFill>
            <a:srgbClr val="111827"/>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F43F5E"/>
                </a:solidFill>
                <a:latin typeface="Arial"/>
              </a:defRPr>
            </a:pPr>
            <a:r>
              <a:t>⏳ 2.5–4.0 Hours Lost Waiting</a:t>
            </a:r>
          </a:p>
          <a:p>
            <a:pPr>
              <a:defRPr sz="1100">
                <a:solidFill>
                  <a:srgbClr val="94A3B8"/>
                </a:solidFill>
                <a:latin typeface="Arial"/>
              </a:defRPr>
            </a:pPr>
            <a:r>
              <a:t>Patients spend half their day crammed in waiting rooms simply waiting for their token to be called. Causes massive patient dissatisfaction and lost economic work hours.</a:t>
            </a:r>
          </a:p>
        </p:txBody>
      </p:sp>
      <p:sp>
        <p:nvSpPr>
          <p:cNvPr id="5" name="Rounded Rectangle 4"/>
          <p:cNvSpPr/>
          <p:nvPr/>
        </p:nvSpPr>
        <p:spPr>
          <a:xfrm>
            <a:off x="6217920" y="1645920"/>
            <a:ext cx="5212080" cy="182880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F59E0B"/>
                </a:solidFill>
                <a:latin typeface="Arial"/>
              </a:defRPr>
            </a:pPr>
            <a:r>
              <a:t>🚗 Blind Healthcare Commuting</a:t>
            </a:r>
          </a:p>
          <a:p>
            <a:pPr>
              <a:defRPr sz="1100">
                <a:solidFill>
                  <a:srgbClr val="94A3B8"/>
                </a:solidFill>
                <a:latin typeface="Arial"/>
              </a:defRPr>
            </a:pPr>
            <a:r>
              <a:t>Patients travel 10–30 km to hospitals without knowing whether specialist slots are already full, doctors are delayed, or emergency beds are available.</a:t>
            </a:r>
          </a:p>
        </p:txBody>
      </p:sp>
      <p:sp>
        <p:nvSpPr>
          <p:cNvPr id="6" name="Rounded Rectangle 5"/>
          <p:cNvSpPr/>
          <p:nvPr/>
        </p:nvSpPr>
        <p:spPr>
          <a:xfrm>
            <a:off x="731520" y="3749039"/>
            <a:ext cx="5212080" cy="182880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8B5CF6"/>
                </a:solidFill>
                <a:latin typeface="Arial"/>
              </a:defRPr>
            </a:pPr>
            <a:r>
              <a:t>🦠 High Cross-Infection Risks</a:t>
            </a:r>
          </a:p>
          <a:p>
            <a:pPr>
              <a:defRPr sz="1100">
                <a:solidFill>
                  <a:srgbClr val="94A3B8"/>
                </a:solidFill>
                <a:latin typeface="Arial"/>
              </a:defRPr>
            </a:pPr>
            <a:r>
              <a:t>Dense, unventilated waiting rooms mix immune-compromised individuals with infectious viral patients, driving secondary hospital-acquired infections.</a:t>
            </a:r>
          </a:p>
        </p:txBody>
      </p:sp>
      <p:sp>
        <p:nvSpPr>
          <p:cNvPr id="7" name="Rounded Rectangle 6"/>
          <p:cNvSpPr/>
          <p:nvPr/>
        </p:nvSpPr>
        <p:spPr>
          <a:xfrm>
            <a:off x="6217920" y="3749039"/>
            <a:ext cx="5212080" cy="182880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0EA5E9"/>
                </a:solidFill>
                <a:latin typeface="Arial"/>
              </a:defRPr>
            </a:pPr>
            <a:r>
              <a:t>🚨 Emergency Room Overcrowding</a:t>
            </a:r>
          </a:p>
          <a:p>
            <a:pPr>
              <a:defRPr sz="1100">
                <a:solidFill>
                  <a:srgbClr val="94A3B8"/>
                </a:solidFill>
                <a:latin typeface="Arial"/>
              </a:defRPr>
            </a:pPr>
            <a:r>
              <a:t>Absence of pre-arrival symptom triage causes non-critical patients to flock to emergency wards, consuming critical trauma bays meant for life-threatening cases.</a:t>
            </a:r>
          </a:p>
        </p:txBody>
      </p:sp>
      <p:sp>
        <p:nvSpPr>
          <p:cNvPr id="8" name="Rounded Rectangle 7"/>
          <p:cNvSpPr/>
          <p:nvPr/>
        </p:nvSpPr>
        <p:spPr>
          <a:xfrm>
            <a:off x="731520" y="5852160"/>
            <a:ext cx="10728655" cy="640080"/>
          </a:xfrm>
          <a:prstGeom prst="roundRect">
            <a:avLst/>
          </a:prstGeom>
          <a:solidFill>
            <a:srgbClr val="182136"/>
          </a:solidFill>
          <a:ln w="15240">
            <a:solidFill>
              <a:srgbClr val="263452"/>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100" b="1">
                <a:solidFill>
                  <a:srgbClr val="E2E8F0"/>
                </a:solidFill>
                <a:latin typeface="Arial"/>
              </a:defRPr>
            </a:pPr>
            <a:r>
              <a:t>KEY METRICS:  Average OPD wait time in public/private clinics: 142 mins  |  Unnecessary physical visits: 42%  |  Patient no-show rate: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PROPOSED SOLUTION // CAREPULSE ECOSYSTEM</a:t>
            </a:r>
          </a:p>
          <a:p>
            <a:pPr>
              <a:spcAft>
                <a:spcPts val="400"/>
              </a:spcAft>
              <a:defRPr sz="2200" b="1">
                <a:solidFill>
                  <a:srgbClr val="FFFFFF"/>
                </a:solidFill>
                <a:latin typeface="Arial"/>
              </a:defRPr>
            </a:pPr>
            <a:r>
              <a:t>CarePulse HealthFlow: Real-Time Decentralized Queueing &amp; Navigation</a:t>
            </a:r>
          </a:p>
          <a:p>
            <a:pPr>
              <a:defRPr sz="1200">
                <a:solidFill>
                  <a:srgbClr val="94A3B8"/>
                </a:solidFill>
                <a:latin typeface="Arial"/>
              </a:defRPr>
            </a:pPr>
            <a:r>
              <a:t>A patient-centric and hospital-synchronized digital bridge connecting homes directly to clinical consultation desks.</a:t>
            </a:r>
          </a:p>
        </p:txBody>
      </p:sp>
      <p:sp>
        <p:nvSpPr>
          <p:cNvPr id="4" name="Rounded Rectangle 3"/>
          <p:cNvSpPr/>
          <p:nvPr/>
        </p:nvSpPr>
        <p:spPr>
          <a:xfrm>
            <a:off x="731520" y="1645920"/>
            <a:ext cx="3413455" cy="347472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400" b="1">
                <a:solidFill>
                  <a:srgbClr val="0EA5E9"/>
                </a:solidFill>
                <a:latin typeface="Arial"/>
              </a:defRPr>
            </a:pPr>
            <a:r>
              <a:t>🎫 1. Remote Token Generator</a:t>
            </a:r>
          </a:p>
          <a:p>
            <a:pPr>
              <a:spcAft>
                <a:spcPts val="1400"/>
              </a:spcAft>
              <a:defRPr sz="1150">
                <a:solidFill>
                  <a:srgbClr val="94A3B8"/>
                </a:solidFill>
                <a:latin typeface="Arial"/>
              </a:defRPr>
            </a:pPr>
            <a:r>
              <a:t>Patients take a verified OPD queue token from home through their browser. Live queue position and estimated doctor turn time update in real time.</a:t>
            </a:r>
          </a:p>
          <a:p>
            <a:pPr>
              <a:defRPr sz="1000" b="1">
                <a:solidFill>
                  <a:srgbClr val="E2E8F0"/>
                </a:solidFill>
              </a:defRPr>
            </a:pPr>
            <a:r>
              <a:t>BENEFIT:</a:t>
            </a:r>
          </a:p>
          <a:p>
            <a:pPr>
              <a:defRPr sz="1050">
                <a:solidFill>
                  <a:srgbClr val="94A3B8"/>
                </a:solidFill>
              </a:defRPr>
            </a:pPr>
            <a:r>
              <a:t>• Eliminates physical morning token rush and hallway crowding.</a:t>
            </a:r>
          </a:p>
        </p:txBody>
      </p:sp>
      <p:sp>
        <p:nvSpPr>
          <p:cNvPr id="5" name="Rounded Rectangle 4"/>
          <p:cNvSpPr/>
          <p:nvPr/>
        </p:nvSpPr>
        <p:spPr>
          <a:xfrm>
            <a:off x="4389120" y="1645920"/>
            <a:ext cx="3413455" cy="347472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400" b="1">
                <a:solidFill>
                  <a:srgbClr val="10B981"/>
                </a:solidFill>
                <a:latin typeface="Arial"/>
              </a:defRPr>
            </a:pPr>
            <a:r>
              <a:t>🚗 2. 'Leave Home Now' Telematics</a:t>
            </a:r>
          </a:p>
          <a:p>
            <a:pPr>
              <a:spcAft>
                <a:spcPts val="1400"/>
              </a:spcAft>
              <a:defRPr sz="1150">
                <a:solidFill>
                  <a:srgbClr val="94A3B8"/>
                </a:solidFill>
                <a:latin typeface="Arial"/>
              </a:defRPr>
            </a:pPr>
            <a:r>
              <a:t>Calculates commute time dynamically. Alerts the patient when to depart so they walk into the hospital precisely when their turn is called.</a:t>
            </a:r>
          </a:p>
          <a:p>
            <a:pPr>
              <a:defRPr sz="1000" b="1">
                <a:solidFill>
                  <a:srgbClr val="E2E8F0"/>
                </a:solidFill>
              </a:defRPr>
            </a:pPr>
            <a:r>
              <a:t>BENEFIT:</a:t>
            </a:r>
          </a:p>
          <a:p>
            <a:pPr>
              <a:defRPr sz="1050">
                <a:solidFill>
                  <a:srgbClr val="94A3B8"/>
                </a:solidFill>
              </a:defRPr>
            </a:pPr>
            <a:r>
              <a:t>• Zero waiting room time; spend idle wait hours comfortably at home.</a:t>
            </a:r>
          </a:p>
        </p:txBody>
      </p:sp>
      <p:sp>
        <p:nvSpPr>
          <p:cNvPr id="6" name="Rounded Rectangle 5"/>
          <p:cNvSpPr/>
          <p:nvPr/>
        </p:nvSpPr>
        <p:spPr>
          <a:xfrm>
            <a:off x="8046720" y="1645920"/>
            <a:ext cx="3413455" cy="347472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spcAft>
                <a:spcPts val="1400"/>
              </a:spcAft>
              <a:defRPr sz="1400" b="1">
                <a:solidFill>
                  <a:srgbClr val="8B5CF6"/>
                </a:solidFill>
                <a:latin typeface="Arial"/>
              </a:defRPr>
            </a:pPr>
            <a:r>
              <a:t>🩺 3. Algorithmic Symptom Triage</a:t>
            </a:r>
          </a:p>
          <a:p>
            <a:pPr>
              <a:spcAft>
                <a:spcPts val="1400"/>
              </a:spcAft>
              <a:defRPr sz="1150">
                <a:solidFill>
                  <a:srgbClr val="94A3B8"/>
                </a:solidFill>
                <a:latin typeface="Arial"/>
              </a:defRPr>
            </a:pPr>
            <a:r>
              <a:t>Pre-consultation clinical risk evaluator directs patients to Self-Care, Teleconsult, Urgent OPD, or immediate Emergency SOS before traveling.</a:t>
            </a:r>
          </a:p>
          <a:p>
            <a:pPr>
              <a:defRPr sz="1000" b="1">
                <a:solidFill>
                  <a:srgbClr val="E2E8F0"/>
                </a:solidFill>
              </a:defRPr>
            </a:pPr>
            <a:r>
              <a:t>BENEFIT:</a:t>
            </a:r>
          </a:p>
          <a:p>
            <a:pPr>
              <a:defRPr sz="1050">
                <a:solidFill>
                  <a:srgbClr val="94A3B8"/>
                </a:solidFill>
              </a:defRPr>
            </a:pPr>
            <a:r>
              <a:t>• Protects emergency bays; prevents unnecessary travel for minor issues.</a:t>
            </a:r>
          </a:p>
        </p:txBody>
      </p:sp>
      <p:sp>
        <p:nvSpPr>
          <p:cNvPr id="7" name="Rounded Rectangle 6"/>
          <p:cNvSpPr/>
          <p:nvPr/>
        </p:nvSpPr>
        <p:spPr>
          <a:xfrm>
            <a:off x="731520" y="5303520"/>
            <a:ext cx="10728655" cy="1005840"/>
          </a:xfrm>
          <a:prstGeom prst="roundRect">
            <a:avLst/>
          </a:prstGeom>
          <a:solidFill>
            <a:srgbClr val="182136"/>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300" b="1">
                <a:solidFill>
                  <a:srgbClr val="10B981"/>
                </a:solidFill>
                <a:latin typeface="Arial"/>
              </a:defRPr>
            </a:pPr>
            <a:r>
              <a:t>CORE VALUE PROPOSITION: 'Turn Hospital Waiting Rooms Inside-Out'</a:t>
            </a:r>
          </a:p>
          <a:p>
            <a:pPr>
              <a:defRPr sz="1100">
                <a:solidFill>
                  <a:srgbClr val="E2E8F0"/>
                </a:solidFill>
              </a:defRPr>
            </a:pPr>
            <a:r>
              <a:t>Converts physical queues into dynamic digital streams. Patients wait at home, arrive just-in-time, and walk directly to the doctor's desk.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TECHNICAL APPROACH // SYSTEM ARCHITECTURE</a:t>
            </a:r>
          </a:p>
          <a:p>
            <a:pPr>
              <a:spcAft>
                <a:spcPts val="400"/>
              </a:spcAft>
              <a:defRPr sz="2200" b="1">
                <a:solidFill>
                  <a:srgbClr val="FFFFFF"/>
                </a:solidFill>
                <a:latin typeface="Arial"/>
              </a:defRPr>
            </a:pPr>
            <a:r>
              <a:t>Modular, Zero-Dependency &amp; Production-Ready Architecture</a:t>
            </a:r>
          </a:p>
          <a:p>
            <a:pPr>
              <a:defRPr sz="1200">
                <a:solidFill>
                  <a:srgbClr val="94A3B8"/>
                </a:solidFill>
                <a:latin typeface="Arial"/>
              </a:defRPr>
            </a:pPr>
            <a:r>
              <a:t>Built with a high-performance, lightweight architecture ensuring instant load times even on low-bandwidth 3G/4G networks.</a:t>
            </a:r>
          </a:p>
        </p:txBody>
      </p:sp>
      <p:sp>
        <p:nvSpPr>
          <p:cNvPr id="4" name="Rounded Rectangle 3"/>
          <p:cNvSpPr/>
          <p:nvPr/>
        </p:nvSpPr>
        <p:spPr>
          <a:xfrm>
            <a:off x="731520" y="1645920"/>
            <a:ext cx="3413455" cy="466344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50" b="1">
                <a:solidFill>
                  <a:srgbClr val="0EA5E9"/>
                </a:solidFill>
                <a:latin typeface="Arial"/>
              </a:defRPr>
            </a:pPr>
            <a:r>
              <a:t>💻 Frontend &amp; Experience Layer</a:t>
            </a:r>
          </a:p>
          <a:p>
            <a:pPr>
              <a:spcAft>
                <a:spcPts val="800"/>
              </a:spcAft>
              <a:defRPr sz="1050">
                <a:solidFill>
                  <a:srgbClr val="E2E8F0"/>
                </a:solidFill>
                <a:latin typeface="Arial"/>
              </a:defRPr>
            </a:pPr>
            <a:r>
              <a:t>• Semantic HTML5 single-page application structure</a:t>
            </a:r>
          </a:p>
          <a:p>
            <a:pPr>
              <a:spcAft>
                <a:spcPts val="800"/>
              </a:spcAft>
              <a:defRPr sz="1050">
                <a:solidFill>
                  <a:srgbClr val="E2E8F0"/>
                </a:solidFill>
                <a:latin typeface="Arial"/>
              </a:defRPr>
            </a:pPr>
            <a:r>
              <a:t>• Modern Vanilla CSS3 design system (Glassmorphism, custom CSS variables)</a:t>
            </a:r>
          </a:p>
          <a:p>
            <a:pPr>
              <a:spcAft>
                <a:spcPts val="800"/>
              </a:spcAft>
              <a:defRPr sz="1050">
                <a:solidFill>
                  <a:srgbClr val="E2E8F0"/>
                </a:solidFill>
                <a:latin typeface="Arial"/>
              </a:defRPr>
            </a:pPr>
            <a:r>
              <a:t>• Fully responsive layout optimized for mobile smartphones and desktop kiosks</a:t>
            </a:r>
          </a:p>
          <a:p>
            <a:pPr>
              <a:spcAft>
                <a:spcPts val="800"/>
              </a:spcAft>
              <a:defRPr sz="1050">
                <a:solidFill>
                  <a:srgbClr val="E2E8F0"/>
                </a:solidFill>
                <a:latin typeface="Arial"/>
              </a:defRPr>
            </a:pPr>
            <a:r>
              <a:t>• Accessible Web Audio chime synthesizer for auditory patient callouts</a:t>
            </a:r>
          </a:p>
          <a:p>
            <a:pPr>
              <a:spcAft>
                <a:spcPts val="800"/>
              </a:spcAft>
              <a:defRPr sz="1050">
                <a:solidFill>
                  <a:srgbClr val="E2E8F0"/>
                </a:solidFill>
                <a:latin typeface="Arial"/>
              </a:defRPr>
            </a:pPr>
            <a:r>
              <a:t>• Floating toast notifications and modal management system</a:t>
            </a:r>
          </a:p>
        </p:txBody>
      </p:sp>
      <p:sp>
        <p:nvSpPr>
          <p:cNvPr id="5" name="Rounded Rectangle 4"/>
          <p:cNvSpPr/>
          <p:nvPr/>
        </p:nvSpPr>
        <p:spPr>
          <a:xfrm>
            <a:off x="4389120" y="1645920"/>
            <a:ext cx="3413455" cy="466344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50" b="1">
                <a:solidFill>
                  <a:srgbClr val="10B981"/>
                </a:solidFill>
                <a:latin typeface="Arial"/>
              </a:defRPr>
            </a:pPr>
            <a:r>
              <a:t>⚙️ Core Computational Engines</a:t>
            </a:r>
          </a:p>
          <a:p>
            <a:pPr>
              <a:spcAft>
                <a:spcPts val="800"/>
              </a:spcAft>
              <a:defRPr sz="1050">
                <a:solidFill>
                  <a:srgbClr val="E2E8F0"/>
                </a:solidFill>
                <a:latin typeface="Arial"/>
              </a:defRPr>
            </a:pPr>
            <a:r>
              <a:t>• queue-engine.js: Real-time velocity tracking, dynamic queue position math</a:t>
            </a:r>
          </a:p>
          <a:p>
            <a:pPr>
              <a:spcAft>
                <a:spcPts val="800"/>
              </a:spcAft>
              <a:defRPr sz="1050">
                <a:solidFill>
                  <a:srgbClr val="E2E8F0"/>
                </a:solidFill>
                <a:latin typeface="Arial"/>
              </a:defRPr>
            </a:pPr>
            <a:r>
              <a:t>• triage-engine.js: Weighted risk-scoring decision tree with 4-tier clinical routing</a:t>
            </a:r>
          </a:p>
          <a:p>
            <a:pPr>
              <a:spcAft>
                <a:spcPts val="800"/>
              </a:spcAft>
              <a:defRPr sz="1050">
                <a:solidFill>
                  <a:srgbClr val="E2E8F0"/>
                </a:solidFill>
                <a:latin typeface="Arial"/>
              </a:defRPr>
            </a:pPr>
            <a:r>
              <a:t>• app.js: Reactive UI binding, event coordination, localStorage state wallet</a:t>
            </a:r>
          </a:p>
          <a:p>
            <a:pPr>
              <a:spcAft>
                <a:spcPts val="800"/>
              </a:spcAft>
              <a:defRPr sz="1050">
                <a:solidFill>
                  <a:srgbClr val="E2E8F0"/>
                </a:solidFill>
                <a:latin typeface="Arial"/>
              </a:defRPr>
            </a:pPr>
            <a:r>
              <a:t>• Predictive Commute Buffer: (Est. Wait - Transit Time) threshold automation</a:t>
            </a:r>
          </a:p>
          <a:p>
            <a:pPr>
              <a:spcAft>
                <a:spcPts val="800"/>
              </a:spcAft>
              <a:defRPr sz="1050">
                <a:solidFill>
                  <a:srgbClr val="E2E8F0"/>
                </a:solidFill>
                <a:latin typeface="Arial"/>
              </a:defRPr>
            </a:pPr>
            <a:r>
              <a:t>• Staff Admin Desk Simulator: Provider state sync and delay broadcast engine</a:t>
            </a:r>
          </a:p>
        </p:txBody>
      </p:sp>
      <p:sp>
        <p:nvSpPr>
          <p:cNvPr id="6" name="Rounded Rectangle 5"/>
          <p:cNvSpPr/>
          <p:nvPr/>
        </p:nvSpPr>
        <p:spPr>
          <a:xfrm>
            <a:off x="8046720" y="1645920"/>
            <a:ext cx="3413455" cy="466344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350" b="1">
                <a:solidFill>
                  <a:srgbClr val="8B5CF6"/>
                </a:solidFill>
                <a:latin typeface="Arial"/>
              </a:defRPr>
            </a:pPr>
            <a:r>
              <a:t>🏥 Data &amp; Interoperability Layer</a:t>
            </a:r>
          </a:p>
          <a:p>
            <a:pPr>
              <a:spcAft>
                <a:spcPts val="800"/>
              </a:spcAft>
              <a:defRPr sz="1050">
                <a:solidFill>
                  <a:srgbClr val="E2E8F0"/>
                </a:solidFill>
                <a:latin typeface="Arial"/>
              </a:defRPr>
            </a:pPr>
            <a:r>
              <a:t>• data.js: Comprehensive registry of verified multi-specialty hospitals and clinics</a:t>
            </a:r>
          </a:p>
          <a:p>
            <a:pPr>
              <a:spcAft>
                <a:spcPts val="800"/>
              </a:spcAft>
              <a:defRPr sz="1050">
                <a:solidFill>
                  <a:srgbClr val="E2E8F0"/>
                </a:solidFill>
                <a:latin typeface="Arial"/>
              </a:defRPr>
            </a:pPr>
            <a:r>
              <a:t>• Live facility metrics: bed capacity, ICU availability, doctor rosters, and rush levels</a:t>
            </a:r>
          </a:p>
          <a:p>
            <a:pPr>
              <a:spcAft>
                <a:spcPts val="800"/>
              </a:spcAft>
              <a:defRPr sz="1050">
                <a:solidFill>
                  <a:srgbClr val="E2E8F0"/>
                </a:solidFill>
                <a:latin typeface="Arial"/>
              </a:defRPr>
            </a:pPr>
            <a:r>
              <a:t>• Cashless insurance network mapping (Star Health, Max Bupa, Care, HDFC Ergo)</a:t>
            </a:r>
          </a:p>
          <a:p>
            <a:pPr>
              <a:spcAft>
                <a:spcPts val="800"/>
              </a:spcAft>
              <a:defRPr sz="1050">
                <a:solidFill>
                  <a:srgbClr val="E2E8F0"/>
                </a:solidFill>
                <a:latin typeface="Arial"/>
              </a:defRPr>
            </a:pPr>
            <a:r>
              <a:t>• Future-ready REST / FHIR / ABDM (Ayushman Bharat Digital Mission) schema</a:t>
            </a:r>
          </a:p>
          <a:p>
            <a:pPr>
              <a:spcAft>
                <a:spcPts val="800"/>
              </a:spcAft>
              <a:defRPr sz="1050">
                <a:solidFill>
                  <a:srgbClr val="E2E8F0"/>
                </a:solidFill>
                <a:latin typeface="Arial"/>
              </a:defRPr>
            </a:pPr>
            <a:r>
              <a:t>• Zero-install client operation requiring no native app download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CORE CAPABILITY // NETWORK DISCOVERY</a:t>
            </a:r>
          </a:p>
          <a:p>
            <a:pPr>
              <a:spcAft>
                <a:spcPts val="400"/>
              </a:spcAft>
              <a:defRPr sz="2200" b="1">
                <a:solidFill>
                  <a:srgbClr val="FFFFFF"/>
                </a:solidFill>
                <a:latin typeface="Arial"/>
              </a:defRPr>
            </a:pPr>
            <a:r>
              <a:t>Smart Healthcare Facility &amp; Bed Capacity Finder</a:t>
            </a:r>
          </a:p>
          <a:p>
            <a:pPr>
              <a:defRPr sz="1200">
                <a:solidFill>
                  <a:srgbClr val="94A3B8"/>
                </a:solidFill>
                <a:latin typeface="Arial"/>
              </a:defRPr>
            </a:pPr>
            <a:r>
              <a:t>Transparent visibility into hospital readiness, specialty doctors, and queue status before stepping out.</a:t>
            </a:r>
          </a:p>
        </p:txBody>
      </p:sp>
      <p:sp>
        <p:nvSpPr>
          <p:cNvPr id="4" name="Rounded Rectangle 3"/>
          <p:cNvSpPr/>
          <p:nvPr/>
        </p:nvSpPr>
        <p:spPr>
          <a:xfrm>
            <a:off x="731520" y="1645920"/>
            <a:ext cx="5212080" cy="201168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0EA5E9"/>
                </a:solidFill>
                <a:latin typeface="Arial"/>
              </a:defRPr>
            </a:pPr>
            <a:r>
              <a:t>🏥 Live Bed &amp; ICU Capacity</a:t>
            </a:r>
          </a:p>
          <a:p>
            <a:pPr>
              <a:defRPr sz="1100">
                <a:solidFill>
                  <a:srgbClr val="94A3B8"/>
                </a:solidFill>
                <a:latin typeface="Arial"/>
              </a:defRPr>
            </a:pPr>
            <a:r>
              <a:t>Real-time tracking of general beds, ICU units, and trauma bays across municipal and private hospitals. Eliminates the agony of reaching a hospital only to find zero beds available.</a:t>
            </a:r>
          </a:p>
        </p:txBody>
      </p:sp>
      <p:sp>
        <p:nvSpPr>
          <p:cNvPr id="5" name="Rounded Rectangle 4"/>
          <p:cNvSpPr/>
          <p:nvPr/>
        </p:nvSpPr>
        <p:spPr>
          <a:xfrm>
            <a:off x="6217920" y="1645920"/>
            <a:ext cx="5212080" cy="20116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10B981"/>
                </a:solidFill>
                <a:latin typeface="Arial"/>
              </a:defRPr>
            </a:pPr>
            <a:r>
              <a:t>👨‍⚕️ Specialist Rosters &amp; Schedules</a:t>
            </a:r>
          </a:p>
          <a:p>
            <a:pPr>
              <a:defRPr sz="1100">
                <a:solidFill>
                  <a:srgbClr val="94A3B8"/>
                </a:solidFill>
                <a:latin typeface="Arial"/>
              </a:defRPr>
            </a:pPr>
            <a:r>
              <a:t>Search and filter by clinical specialty (Cardiology, Pediatrics, Orthopedics, General Medicine). View doctor credentials, room numbers, and consultation fees upfront.</a:t>
            </a:r>
          </a:p>
        </p:txBody>
      </p:sp>
      <p:sp>
        <p:nvSpPr>
          <p:cNvPr id="6" name="Rounded Rectangle 5"/>
          <p:cNvSpPr/>
          <p:nvPr/>
        </p:nvSpPr>
        <p:spPr>
          <a:xfrm>
            <a:off x="731520" y="3931920"/>
            <a:ext cx="5212080" cy="201168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F59E0B"/>
                </a:solidFill>
                <a:latin typeface="Arial"/>
              </a:defRPr>
            </a:pPr>
            <a:r>
              <a:t>🛡️ Cashless Insurance Transparency</a:t>
            </a:r>
          </a:p>
          <a:p>
            <a:pPr>
              <a:defRPr sz="1100">
                <a:solidFill>
                  <a:srgbClr val="94A3B8"/>
                </a:solidFill>
                <a:latin typeface="Arial"/>
              </a:defRPr>
            </a:pPr>
            <a:r>
              <a:t>Pre-mapped health insurance network verification. Displays which TPAs and private insurers offer cashless claims at each specific clinic.</a:t>
            </a:r>
          </a:p>
        </p:txBody>
      </p:sp>
      <p:sp>
        <p:nvSpPr>
          <p:cNvPr id="7" name="Rounded Rectangle 6"/>
          <p:cNvSpPr/>
          <p:nvPr/>
        </p:nvSpPr>
        <p:spPr>
          <a:xfrm>
            <a:off x="6217920" y="3931920"/>
            <a:ext cx="5212080" cy="201168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8B5CF6"/>
                </a:solidFill>
                <a:latin typeface="Arial"/>
              </a:defRPr>
            </a:pPr>
            <a:r>
              <a:t>🚦 Dynamic OPD Rush Indicators</a:t>
            </a:r>
          </a:p>
          <a:p>
            <a:pPr>
              <a:defRPr sz="1100">
                <a:solidFill>
                  <a:srgbClr val="94A3B8"/>
                </a:solidFill>
                <a:latin typeface="Arial"/>
              </a:defRPr>
            </a:pPr>
            <a:r>
              <a:t>Color-coded crowd velocity indicators (Low Rush &lt;15m, Moderate Rush 30m, Heavy Delay &gt;60m) giving patients an immediate sense of waiting room congestion.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PATENTABLE ALGORITHM // COMMUTE-AWARE QUEUEING</a:t>
            </a:r>
          </a:p>
          <a:p>
            <a:pPr>
              <a:spcAft>
                <a:spcPts val="400"/>
              </a:spcAft>
              <a:defRPr sz="2200" b="1">
                <a:solidFill>
                  <a:srgbClr val="FFFFFF"/>
                </a:solidFill>
                <a:latin typeface="Arial"/>
              </a:defRPr>
            </a:pPr>
            <a:r>
              <a:t>Remote OPD Tokens &amp; 'Leave Home Now' Telematics Engine</a:t>
            </a:r>
          </a:p>
          <a:p>
            <a:pPr>
              <a:defRPr sz="1200">
                <a:solidFill>
                  <a:srgbClr val="94A3B8"/>
                </a:solidFill>
                <a:latin typeface="Arial"/>
              </a:defRPr>
            </a:pPr>
            <a:r>
              <a:t>Intelligent predictive scheduling aligning patient transit time with doctor consultation velocity.</a:t>
            </a:r>
          </a:p>
        </p:txBody>
      </p:sp>
      <p:sp>
        <p:nvSpPr>
          <p:cNvPr id="4" name="Rounded Rectangle 3"/>
          <p:cNvSpPr/>
          <p:nvPr/>
        </p:nvSpPr>
        <p:spPr>
          <a:xfrm>
            <a:off x="731520" y="1645920"/>
            <a:ext cx="3413455" cy="310896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250" b="1">
                <a:solidFill>
                  <a:srgbClr val="0EA5E9"/>
                </a:solidFill>
                <a:latin typeface="Arial"/>
              </a:defRPr>
            </a:pPr>
            <a:r>
              <a:t>STAGE 1: DIGITAL TOKEN GENERATION</a:t>
            </a:r>
          </a:p>
          <a:p>
            <a:pPr>
              <a:spcAft>
                <a:spcPts val="1200"/>
              </a:spcAft>
              <a:defRPr sz="1100">
                <a:solidFill>
                  <a:srgbClr val="94A3B8"/>
                </a:solidFill>
              </a:defRPr>
            </a:pPr>
            <a:r>
              <a:t>Patient selects facility and doctor from home. Instant digital pass created with secure Token ID, room number, and live queue position.</a:t>
            </a:r>
          </a:p>
          <a:p>
            <a:pPr>
              <a:defRPr sz="1050" b="1">
                <a:solidFill>
                  <a:srgbClr val="FFFFFF"/>
                </a:solidFill>
              </a:defRPr>
            </a:pPr>
            <a:r>
              <a:t>STATUS: State: Relax at Home</a:t>
            </a:r>
          </a:p>
        </p:txBody>
      </p:sp>
      <p:sp>
        <p:nvSpPr>
          <p:cNvPr id="5" name="Rounded Rectangle 4"/>
          <p:cNvSpPr/>
          <p:nvPr/>
        </p:nvSpPr>
        <p:spPr>
          <a:xfrm>
            <a:off x="4389120" y="1645920"/>
            <a:ext cx="3413455" cy="310896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250" b="1">
                <a:solidFill>
                  <a:srgbClr val="F59E0B"/>
                </a:solidFill>
                <a:latin typeface="Arial"/>
              </a:defRPr>
            </a:pPr>
            <a:r>
              <a:t>STAGE 2: TELEMATICS COMMUTE TRIGGER</a:t>
            </a:r>
          </a:p>
          <a:p>
            <a:pPr>
              <a:spcAft>
                <a:spcPts val="1200"/>
              </a:spcAft>
              <a:defRPr sz="1100">
                <a:solidFill>
                  <a:srgbClr val="94A3B8"/>
                </a:solidFill>
              </a:defRPr>
            </a:pPr>
            <a:r>
              <a:t>Algorithm continuously evaluates: (Wait Time - Transit Time). When buffer reaches threshold (15 mins), system triggers 'LEAVE HOME NOW' urgent alert.</a:t>
            </a:r>
          </a:p>
          <a:p>
            <a:pPr>
              <a:defRPr sz="1050" b="1">
                <a:solidFill>
                  <a:srgbClr val="FFFFFF"/>
                </a:solidFill>
              </a:defRPr>
            </a:pPr>
            <a:r>
              <a:t>STATUS: State: Transit Alert Dispatched</a:t>
            </a:r>
          </a:p>
        </p:txBody>
      </p:sp>
      <p:sp>
        <p:nvSpPr>
          <p:cNvPr id="6" name="Rounded Rectangle 5"/>
          <p:cNvSpPr/>
          <p:nvPr/>
        </p:nvSpPr>
        <p:spPr>
          <a:xfrm>
            <a:off x="8046720" y="1645920"/>
            <a:ext cx="3413455" cy="310896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000"/>
              </a:spcAft>
              <a:defRPr sz="1250" b="1">
                <a:solidFill>
                  <a:srgbClr val="10B981"/>
                </a:solidFill>
                <a:latin typeface="Arial"/>
              </a:defRPr>
            </a:pPr>
            <a:r>
              <a:t>STAGE 3: JUST-IN-TIME CONSULTATION</a:t>
            </a:r>
          </a:p>
          <a:p>
            <a:pPr>
              <a:spcAft>
                <a:spcPts val="1200"/>
              </a:spcAft>
              <a:defRPr sz="1100">
                <a:solidFill>
                  <a:srgbClr val="94A3B8"/>
                </a:solidFill>
              </a:defRPr>
            </a:pPr>
            <a:r>
              <a:t>Patient walks through clinic entrance precisely as their number is announced on audio chime. Zero hallway wait time.</a:t>
            </a:r>
          </a:p>
          <a:p>
            <a:pPr>
              <a:defRPr sz="1050" b="1">
                <a:solidFill>
                  <a:srgbClr val="FFFFFF"/>
                </a:solidFill>
              </a:defRPr>
            </a:pPr>
            <a:r>
              <a:t>STATUS: State: Now Serving at Desk</a:t>
            </a:r>
          </a:p>
        </p:txBody>
      </p:sp>
      <p:sp>
        <p:nvSpPr>
          <p:cNvPr id="7" name="Rounded Rectangle 6"/>
          <p:cNvSpPr/>
          <p:nvPr/>
        </p:nvSpPr>
        <p:spPr>
          <a:xfrm>
            <a:off x="731520" y="4937760"/>
            <a:ext cx="10728655" cy="1371600"/>
          </a:xfrm>
          <a:prstGeom prst="roundRect">
            <a:avLst/>
          </a:prstGeom>
          <a:solidFill>
            <a:srgbClr val="182136"/>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200" b="1">
                <a:solidFill>
                  <a:srgbClr val="0EA5E9"/>
                </a:solidFill>
                <a:latin typeface="Arial"/>
              </a:defRPr>
            </a:pPr>
            <a:r>
              <a:t>📐 PREDICTIVE TELEMATICS FORMULA</a:t>
            </a:r>
          </a:p>
          <a:p>
            <a:pPr>
              <a:defRPr sz="1200" b="1">
                <a:solidFill>
                  <a:srgbClr val="FFFFFF"/>
                </a:solidFill>
                <a:latin typeface="Courier New"/>
              </a:defRPr>
            </a:pPr>
            <a:r>
              <a:t>T_wait = (N_ahead × D_avg) + T_delay   |   T_trigger = T_wait - (T_transit + B_safety)</a:t>
            </a:r>
          </a:p>
          <a:p>
            <a:pPr>
              <a:defRPr sz="1050">
                <a:solidFill>
                  <a:srgbClr val="94A3B8"/>
                </a:solidFill>
              </a:defRPr>
            </a:pPr>
            <a:r>
              <a:t>Where N_ahead = queue position, D_avg = historical doctor visit duration (mins), T_transit = GPS travel duration, and B_safety = 10-minute parking &amp; reception buffer.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CLINICAL INTELLIGENCE // SYMPTOM TRIAGE MATRIX</a:t>
            </a:r>
          </a:p>
          <a:p>
            <a:pPr>
              <a:spcAft>
                <a:spcPts val="400"/>
              </a:spcAft>
              <a:defRPr sz="2200" b="1">
                <a:solidFill>
                  <a:srgbClr val="FFFFFF"/>
                </a:solidFill>
                <a:latin typeface="Arial"/>
              </a:defRPr>
            </a:pPr>
            <a:r>
              <a:t>Rule-Based Clinical Risk Stratification</a:t>
            </a:r>
          </a:p>
          <a:p>
            <a:pPr>
              <a:defRPr sz="1200">
                <a:solidFill>
                  <a:srgbClr val="94A3B8"/>
                </a:solidFill>
                <a:latin typeface="Arial"/>
              </a:defRPr>
            </a:pPr>
            <a:r>
              <a:t>An interactive diagnostic decision tree that assesses urgency before hospital travel.</a:t>
            </a:r>
          </a:p>
        </p:txBody>
      </p:sp>
      <p:sp>
        <p:nvSpPr>
          <p:cNvPr id="4" name="Rounded Rectangle 3"/>
          <p:cNvSpPr/>
          <p:nvPr/>
        </p:nvSpPr>
        <p:spPr>
          <a:xfrm>
            <a:off x="731520" y="1645920"/>
            <a:ext cx="2514600" cy="365760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1000"/>
              </a:spcAft>
              <a:defRPr sz="1300" b="1">
                <a:solidFill>
                  <a:srgbClr val="10B981"/>
                </a:solidFill>
                <a:latin typeface="Arial"/>
              </a:defRPr>
            </a:pPr>
            <a:r>
              <a:t>🟢 Level 1: Home Care</a:t>
            </a:r>
          </a:p>
          <a:p>
            <a:pPr>
              <a:spcAft>
                <a:spcPts val="1200"/>
              </a:spcAft>
              <a:defRPr sz="1050">
                <a:solidFill>
                  <a:srgbClr val="94A3B8"/>
                </a:solidFill>
              </a:defRPr>
            </a:pPr>
            <a:r>
              <a:t>Mild symptoms (mild cold, slight headache, mild fatigue). Recommends hydration, rest, OTC medication guidance, and monitoring.</a:t>
            </a:r>
          </a:p>
          <a:p>
            <a:pPr>
              <a:defRPr sz="950" b="1">
                <a:solidFill>
                  <a:srgbClr val="E2E8F0"/>
                </a:solidFill>
              </a:defRPr>
            </a:pPr>
            <a:r>
              <a:t>CLINICAL IMPACT:</a:t>
            </a:r>
          </a:p>
          <a:p>
            <a:pPr>
              <a:defRPr sz="950">
                <a:solidFill>
                  <a:srgbClr val="94A3B8"/>
                </a:solidFill>
              </a:defRPr>
            </a:pPr>
            <a:r>
              <a:t>Prevents hospital trips for benign self-limiting illness.</a:t>
            </a:r>
          </a:p>
        </p:txBody>
      </p:sp>
      <p:sp>
        <p:nvSpPr>
          <p:cNvPr id="5" name="Rounded Rectangle 4"/>
          <p:cNvSpPr/>
          <p:nvPr/>
        </p:nvSpPr>
        <p:spPr>
          <a:xfrm>
            <a:off x="3413455" y="1645920"/>
            <a:ext cx="2514600" cy="365760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1000"/>
              </a:spcAft>
              <a:defRPr sz="1300" b="1">
                <a:solidFill>
                  <a:srgbClr val="0EA5E9"/>
                </a:solidFill>
                <a:latin typeface="Arial"/>
              </a:defRPr>
            </a:pPr>
            <a:r>
              <a:t>🔵 Level 2: Teleconsultation</a:t>
            </a:r>
          </a:p>
          <a:p>
            <a:pPr>
              <a:spcAft>
                <a:spcPts val="1200"/>
              </a:spcAft>
              <a:defRPr sz="1050">
                <a:solidFill>
                  <a:srgbClr val="94A3B8"/>
                </a:solidFill>
              </a:defRPr>
            </a:pPr>
            <a:r>
              <a:t>Non-acute conditions (skin rashes, medication renewals, mild chronic reviews). 1-click booking for a zero-commute video consultation.</a:t>
            </a:r>
          </a:p>
          <a:p>
            <a:pPr>
              <a:defRPr sz="950" b="1">
                <a:solidFill>
                  <a:srgbClr val="E2E8F0"/>
                </a:solidFill>
              </a:defRPr>
            </a:pPr>
            <a:r>
              <a:t>CLINICAL IMPACT:</a:t>
            </a:r>
          </a:p>
          <a:p>
            <a:pPr>
              <a:defRPr sz="950">
                <a:solidFill>
                  <a:srgbClr val="94A3B8"/>
                </a:solidFill>
              </a:defRPr>
            </a:pPr>
            <a:r>
              <a:t>Saves 100% of commute time and travel expenses.</a:t>
            </a:r>
          </a:p>
        </p:txBody>
      </p:sp>
      <p:sp>
        <p:nvSpPr>
          <p:cNvPr id="6" name="Rounded Rectangle 5"/>
          <p:cNvSpPr/>
          <p:nvPr/>
        </p:nvSpPr>
        <p:spPr>
          <a:xfrm>
            <a:off x="6095390" y="1645920"/>
            <a:ext cx="2514600" cy="365760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1000"/>
              </a:spcAft>
              <a:defRPr sz="1300" b="1">
                <a:solidFill>
                  <a:srgbClr val="F59E0B"/>
                </a:solidFill>
                <a:latin typeface="Arial"/>
              </a:defRPr>
            </a:pPr>
            <a:r>
              <a:t>🟡 Level 3: Urgent OPD Visit</a:t>
            </a:r>
          </a:p>
          <a:p>
            <a:pPr>
              <a:spcAft>
                <a:spcPts val="1200"/>
              </a:spcAft>
              <a:defRPr sz="1050">
                <a:solidFill>
                  <a:srgbClr val="94A3B8"/>
                </a:solidFill>
              </a:defRPr>
            </a:pPr>
            <a:r>
              <a:t>Moderate/persistent symptoms (high fever, severe cough, persistent abdominal pain). Automatically provisions a priority OPD queue token.</a:t>
            </a:r>
          </a:p>
          <a:p>
            <a:pPr>
              <a:defRPr sz="950" b="1">
                <a:solidFill>
                  <a:srgbClr val="E2E8F0"/>
                </a:solidFill>
              </a:defRPr>
            </a:pPr>
            <a:r>
              <a:t>CLINICAL IMPACT:</a:t>
            </a:r>
          </a:p>
          <a:p>
            <a:pPr>
              <a:defRPr sz="950">
                <a:solidFill>
                  <a:srgbClr val="94A3B8"/>
                </a:solidFill>
              </a:defRPr>
            </a:pPr>
            <a:r>
              <a:t>Ensures patient arrives at appropriate specialist.</a:t>
            </a:r>
          </a:p>
        </p:txBody>
      </p:sp>
      <p:sp>
        <p:nvSpPr>
          <p:cNvPr id="7" name="Rounded Rectangle 6"/>
          <p:cNvSpPr/>
          <p:nvPr/>
        </p:nvSpPr>
        <p:spPr>
          <a:xfrm>
            <a:off x="8777325" y="1645920"/>
            <a:ext cx="2514600" cy="3657600"/>
          </a:xfrm>
          <a:prstGeom prst="roundRect">
            <a:avLst/>
          </a:prstGeom>
          <a:solidFill>
            <a:srgbClr val="111827"/>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a:lstStyle/>
          <a:p>
            <a:pPr algn="ctr">
              <a:spcAft>
                <a:spcPts val="1000"/>
              </a:spcAft>
              <a:defRPr sz="1300" b="1">
                <a:solidFill>
                  <a:srgbClr val="F43F5E"/>
                </a:solidFill>
                <a:latin typeface="Arial"/>
              </a:defRPr>
            </a:pPr>
            <a:r>
              <a:t>🔴 Level 4: Emergency SOS</a:t>
            </a:r>
          </a:p>
          <a:p>
            <a:pPr>
              <a:spcAft>
                <a:spcPts val="1200"/>
              </a:spcAft>
              <a:defRPr sz="1050">
                <a:solidFill>
                  <a:srgbClr val="94A3B8"/>
                </a:solidFill>
              </a:defRPr>
            </a:pPr>
            <a:r>
              <a:t>Red flag symptoms (severe chest pain, breathing difficulty, acute trauma). Immediately routes to nearest trauma center with dispatcher speed dial.</a:t>
            </a:r>
          </a:p>
          <a:p>
            <a:pPr>
              <a:defRPr sz="950" b="1">
                <a:solidFill>
                  <a:srgbClr val="E2E8F0"/>
                </a:solidFill>
              </a:defRPr>
            </a:pPr>
            <a:r>
              <a:t>CLINICAL IMPACT:</a:t>
            </a:r>
          </a:p>
          <a:p>
            <a:pPr>
              <a:defRPr sz="950">
                <a:solidFill>
                  <a:srgbClr val="94A3B8"/>
                </a:solidFill>
              </a:defRPr>
            </a:pPr>
            <a:r>
              <a:t>Life-saving triage protocol with 0 hospital delay.</a:t>
            </a:r>
          </a:p>
        </p:txBody>
      </p:sp>
      <p:sp>
        <p:nvSpPr>
          <p:cNvPr id="8" name="Rounded Rectangle 7"/>
          <p:cNvSpPr/>
          <p:nvPr/>
        </p:nvSpPr>
        <p:spPr>
          <a:xfrm>
            <a:off x="731520" y="5486400"/>
            <a:ext cx="10728655" cy="822960"/>
          </a:xfrm>
          <a:prstGeom prst="roundRect">
            <a:avLst/>
          </a:prstGeom>
          <a:solidFill>
            <a:srgbClr val="182136"/>
          </a:solidFill>
          <a:ln w="15240">
            <a:solidFill>
              <a:srgbClr val="263452"/>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100" b="1">
                <a:solidFill>
                  <a:srgbClr val="E2E8F0"/>
                </a:solidFill>
                <a:latin typeface="Arial"/>
              </a:defRPr>
            </a:pPr>
            <a:r>
              <a:t>TRIAGE OUTCOME: 60% of unnecessary hospital footfall diverted to home care or teleconsult, keeping hospital corridors clear for critical care.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PROVIDER PORTAL // CLINICAL WORKFLOW</a:t>
            </a:r>
          </a:p>
          <a:p>
            <a:pPr>
              <a:spcAft>
                <a:spcPts val="400"/>
              </a:spcAft>
              <a:defRPr sz="2200" b="1">
                <a:solidFill>
                  <a:srgbClr val="FFFFFF"/>
                </a:solidFill>
                <a:latin typeface="Arial"/>
              </a:defRPr>
            </a:pPr>
            <a:r>
              <a:t>Doctor &amp; Staff Admin Desk Simulator</a:t>
            </a:r>
          </a:p>
          <a:p>
            <a:pPr>
              <a:defRPr sz="1200">
                <a:solidFill>
                  <a:srgbClr val="94A3B8"/>
                </a:solidFill>
                <a:latin typeface="Arial"/>
              </a:defRPr>
            </a:pPr>
            <a:r>
              <a:t>Synchronized clinical console empowering healthcare providers to manage live queues and broadcast delays.</a:t>
            </a:r>
          </a:p>
        </p:txBody>
      </p:sp>
      <p:sp>
        <p:nvSpPr>
          <p:cNvPr id="4" name="Rounded Rectangle 3"/>
          <p:cNvSpPr/>
          <p:nvPr/>
        </p:nvSpPr>
        <p:spPr>
          <a:xfrm>
            <a:off x="731520" y="1645920"/>
            <a:ext cx="5212080" cy="201168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0EA5E9"/>
                </a:solidFill>
                <a:latin typeface="Arial"/>
              </a:defRPr>
            </a:pPr>
            <a:r>
              <a:t>📢 1-Click Patient Calling</a:t>
            </a:r>
          </a:p>
          <a:p>
            <a:pPr>
              <a:defRPr sz="1100">
                <a:solidFill>
                  <a:srgbClr val="94A3B8"/>
                </a:solidFill>
                <a:latin typeface="Arial"/>
              </a:defRPr>
            </a:pPr>
            <a:r>
              <a:t>Instantly advances queue counter, triggering automated audio chimes in the clinic waiting area and push/SMS alerts to the patient's smartphone.</a:t>
            </a:r>
          </a:p>
        </p:txBody>
      </p:sp>
      <p:sp>
        <p:nvSpPr>
          <p:cNvPr id="5" name="Rounded Rectangle 4"/>
          <p:cNvSpPr/>
          <p:nvPr/>
        </p:nvSpPr>
        <p:spPr>
          <a:xfrm>
            <a:off x="6217920" y="1645920"/>
            <a:ext cx="5212080" cy="20116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10B981"/>
                </a:solidFill>
                <a:latin typeface="Arial"/>
              </a:defRPr>
            </a:pPr>
            <a:r>
              <a:t>⏱️ Live Consultation Management</a:t>
            </a:r>
          </a:p>
          <a:p>
            <a:pPr>
              <a:defRPr sz="1100">
                <a:solidFill>
                  <a:srgbClr val="94A3B8"/>
                </a:solidFill>
                <a:latin typeface="Arial"/>
              </a:defRPr>
            </a:pPr>
            <a:r>
              <a:t>Track ongoing consult duration, record visit completions, or flag patient no-shows with real-time queue recalculation across the network.</a:t>
            </a:r>
          </a:p>
        </p:txBody>
      </p:sp>
      <p:sp>
        <p:nvSpPr>
          <p:cNvPr id="6" name="Rounded Rectangle 5"/>
          <p:cNvSpPr/>
          <p:nvPr/>
        </p:nvSpPr>
        <p:spPr>
          <a:xfrm>
            <a:off x="731520" y="3931920"/>
            <a:ext cx="5212080" cy="201168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F59E0B"/>
                </a:solidFill>
                <a:latin typeface="Arial"/>
              </a:defRPr>
            </a:pPr>
            <a:r>
              <a:t>🚨 Acuity Triage Priority Bump</a:t>
            </a:r>
          </a:p>
          <a:p>
            <a:pPr>
              <a:defRPr sz="1100">
                <a:solidFill>
                  <a:srgbClr val="94A3B8"/>
                </a:solidFill>
                <a:latin typeface="Arial"/>
              </a:defRPr>
            </a:pPr>
            <a:r>
              <a:t>OPD nurses and doctors can escalate high-urgency patients ahead in the queue based on vital signs or physical clinical presentation.</a:t>
            </a:r>
          </a:p>
        </p:txBody>
      </p:sp>
      <p:sp>
        <p:nvSpPr>
          <p:cNvPr id="7" name="Rounded Rectangle 6"/>
          <p:cNvSpPr/>
          <p:nvPr/>
        </p:nvSpPr>
        <p:spPr>
          <a:xfrm>
            <a:off x="6217920" y="3931920"/>
            <a:ext cx="5212080" cy="201168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8B5CF6"/>
                </a:solidFill>
                <a:latin typeface="Arial"/>
              </a:defRPr>
            </a:pPr>
            <a:r>
              <a:t>⚠️ Broadcast Delay Alerts</a:t>
            </a:r>
          </a:p>
          <a:p>
            <a:pPr>
              <a:defRPr sz="1100">
                <a:solidFill>
                  <a:srgbClr val="94A3B8"/>
                </a:solidFill>
                <a:latin typeface="Arial"/>
              </a:defRPr>
            </a:pPr>
            <a:r>
              <a:t>If emergency surgeries or rounds cause doctor delays, staff can broadcast a 15/30-minute delay alert to all waiting patients, preventing waiting room frustration.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SAFETY &amp; ACCESSIBILITY // COMPREHENSIVE CARE</a:t>
            </a:r>
          </a:p>
          <a:p>
            <a:pPr>
              <a:spcAft>
                <a:spcPts val="400"/>
              </a:spcAft>
              <a:defRPr sz="2200" b="1">
                <a:solidFill>
                  <a:srgbClr val="FFFFFF"/>
                </a:solidFill>
                <a:latin typeface="Arial"/>
              </a:defRPr>
            </a:pPr>
            <a:r>
              <a:t>Zero-Commute Teleconsultation &amp; 1-Tap Emergency SOS</a:t>
            </a:r>
          </a:p>
          <a:p>
            <a:pPr>
              <a:defRPr sz="1200">
                <a:solidFill>
                  <a:srgbClr val="94A3B8"/>
                </a:solidFill>
                <a:latin typeface="Arial"/>
              </a:defRPr>
            </a:pPr>
            <a:r>
              <a:t>Bridging routine virtual healthcare and critical acute emergency response in a single unified interface.</a:t>
            </a:r>
          </a:p>
        </p:txBody>
      </p:sp>
      <p:sp>
        <p:nvSpPr>
          <p:cNvPr id="4" name="Rounded Rectangle 3"/>
          <p:cNvSpPr/>
          <p:nvPr/>
        </p:nvSpPr>
        <p:spPr>
          <a:xfrm>
            <a:off x="731520" y="1645920"/>
            <a:ext cx="5212080" cy="466344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600" b="1">
                <a:solidFill>
                  <a:srgbClr val="0EA5E9"/>
                </a:solidFill>
                <a:latin typeface="Arial"/>
              </a:defRPr>
            </a:pPr>
            <a:r>
              <a:t>💻 ZERO-COMMUTE VIDEO TELECONSULT</a:t>
            </a:r>
          </a:p>
          <a:p>
            <a:pPr>
              <a:spcAft>
                <a:spcPts val="800"/>
              </a:spcAft>
              <a:defRPr sz="1100">
                <a:solidFill>
                  <a:srgbClr val="E2E8F0"/>
                </a:solidFill>
              </a:defRPr>
            </a:pPr>
            <a:r>
              <a:t>• Instant video consultation with on-call specialists from home.</a:t>
            </a:r>
          </a:p>
          <a:p>
            <a:pPr>
              <a:spcAft>
                <a:spcPts val="800"/>
              </a:spcAft>
              <a:defRPr sz="1100">
                <a:solidFill>
                  <a:srgbClr val="E2E8F0"/>
                </a:solidFill>
              </a:defRPr>
            </a:pPr>
            <a:r>
              <a:t>• Picture-in-picture simulated video interface with audio/video controls.</a:t>
            </a:r>
          </a:p>
          <a:p>
            <a:pPr>
              <a:spcAft>
                <a:spcPts val="800"/>
              </a:spcAft>
              <a:defRPr sz="1100">
                <a:solidFill>
                  <a:srgbClr val="E2E8F0"/>
                </a:solidFill>
              </a:defRPr>
            </a:pPr>
            <a:r>
              <a:t>• Ideal for routine follow-ups, prescription renewals, and minor health concerns.</a:t>
            </a:r>
          </a:p>
          <a:p>
            <a:pPr>
              <a:spcAft>
                <a:spcPts val="800"/>
              </a:spcAft>
              <a:defRPr sz="1100">
                <a:solidFill>
                  <a:srgbClr val="E2E8F0"/>
                </a:solidFill>
              </a:defRPr>
            </a:pPr>
            <a:r>
              <a:t>• Saves patients 100% of transportation costs and traffic fatigue.</a:t>
            </a:r>
          </a:p>
          <a:p>
            <a:pPr>
              <a:spcAft>
                <a:spcPts val="800"/>
              </a:spcAft>
              <a:defRPr sz="1100">
                <a:solidFill>
                  <a:srgbClr val="E2E8F0"/>
                </a:solidFill>
              </a:defRPr>
            </a:pPr>
            <a:r>
              <a:t>• Directly relieves OPD footfall in tertiary specialty hospitals.</a:t>
            </a:r>
          </a:p>
        </p:txBody>
      </p:sp>
      <p:sp>
        <p:nvSpPr>
          <p:cNvPr id="5" name="Rounded Rectangle 4"/>
          <p:cNvSpPr/>
          <p:nvPr/>
        </p:nvSpPr>
        <p:spPr>
          <a:xfrm>
            <a:off x="6217920" y="1645920"/>
            <a:ext cx="5242255" cy="4663440"/>
          </a:xfrm>
          <a:prstGeom prst="roundRect">
            <a:avLst/>
          </a:prstGeom>
          <a:solidFill>
            <a:srgbClr val="111827"/>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600" b="1">
                <a:solidFill>
                  <a:srgbClr val="F43F5E"/>
                </a:solidFill>
                <a:latin typeface="Arial"/>
              </a:defRPr>
            </a:pPr>
            <a:r>
              <a:t>🚨 1-TAP EMERGENCY SOS SYSTEM</a:t>
            </a:r>
          </a:p>
          <a:p>
            <a:pPr>
              <a:spcAft>
                <a:spcPts val="800"/>
              </a:spcAft>
              <a:defRPr sz="1100">
                <a:solidFill>
                  <a:srgbClr val="E2E8F0"/>
                </a:solidFill>
              </a:defRPr>
            </a:pPr>
            <a:r>
              <a:t>• Immediate geolocation routing to the nearest Level-1 trauma center.</a:t>
            </a:r>
          </a:p>
          <a:p>
            <a:pPr>
              <a:spcAft>
                <a:spcPts val="800"/>
              </a:spcAft>
              <a:defRPr sz="1100">
                <a:solidFill>
                  <a:srgbClr val="E2E8F0"/>
                </a:solidFill>
              </a:defRPr>
            </a:pPr>
            <a:r>
              <a:t>• Displays real-time verified emergency bay readiness before dispatch.</a:t>
            </a:r>
          </a:p>
          <a:p>
            <a:pPr>
              <a:spcAft>
                <a:spcPts val="800"/>
              </a:spcAft>
              <a:defRPr sz="1100">
                <a:solidFill>
                  <a:srgbClr val="E2E8F0"/>
                </a:solidFill>
              </a:defRPr>
            </a:pPr>
            <a:r>
              <a:t>• Auto-dials 108 / 112 emergency ambulance dispatchers with single tap.</a:t>
            </a:r>
          </a:p>
          <a:p>
            <a:pPr>
              <a:spcAft>
                <a:spcPts val="800"/>
              </a:spcAft>
              <a:defRPr sz="1100">
                <a:solidFill>
                  <a:srgbClr val="E2E8F0"/>
                </a:solidFill>
              </a:defRPr>
            </a:pPr>
            <a:r>
              <a:t>• Pre-alerts receiving hospital ER trauma team of inbound critical patient.</a:t>
            </a:r>
          </a:p>
          <a:p>
            <a:pPr>
              <a:spcAft>
                <a:spcPts val="800"/>
              </a:spcAft>
              <a:defRPr sz="1100">
                <a:solidFill>
                  <a:srgbClr val="E2E8F0"/>
                </a:solidFill>
              </a:defRPr>
            </a:pPr>
            <a:r>
              <a:t>• Equipped with high-visibility emergency cues and audio alerts for crisis safety.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FEASIBILITY &amp; VIABILITY // REAL-WORLD DEPLOYMENT</a:t>
            </a:r>
          </a:p>
          <a:p>
            <a:pPr>
              <a:spcAft>
                <a:spcPts val="400"/>
              </a:spcAft>
              <a:defRPr sz="2200" b="1">
                <a:solidFill>
                  <a:srgbClr val="FFFFFF"/>
                </a:solidFill>
                <a:latin typeface="Arial"/>
              </a:defRPr>
            </a:pPr>
            <a:r>
              <a:t>High Feasibility, Scalable Architecture &amp; System Integration</a:t>
            </a:r>
          </a:p>
          <a:p>
            <a:pPr>
              <a:defRPr sz="1200">
                <a:solidFill>
                  <a:srgbClr val="94A3B8"/>
                </a:solidFill>
                <a:latin typeface="Arial"/>
              </a:defRPr>
            </a:pPr>
            <a:r>
              <a:t>Designed for frictionless adoption across government primary health centers and multi-specialty private hospital chains.</a:t>
            </a:r>
          </a:p>
        </p:txBody>
      </p:sp>
      <p:sp>
        <p:nvSpPr>
          <p:cNvPr id="4" name="Rounded Rectangle 3"/>
          <p:cNvSpPr/>
          <p:nvPr/>
        </p:nvSpPr>
        <p:spPr>
          <a:xfrm>
            <a:off x="731520" y="1645920"/>
            <a:ext cx="5212080" cy="201168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0EA5E9"/>
                </a:solidFill>
                <a:latin typeface="Arial"/>
              </a:defRPr>
            </a:pPr>
            <a:r>
              <a:t>⚡ Zero App Install Barrier</a:t>
            </a:r>
          </a:p>
          <a:p>
            <a:pPr>
              <a:defRPr sz="1100">
                <a:solidFill>
                  <a:srgbClr val="94A3B8"/>
                </a:solidFill>
                <a:latin typeface="Arial"/>
              </a:defRPr>
            </a:pPr>
            <a:r>
              <a:t>Runs completely in modern web browsers (Chrome, Safari, Edge) on mobile smartphones and desktop kiosks. No 100MB app downloads or app store hurdles.</a:t>
            </a:r>
          </a:p>
        </p:txBody>
      </p:sp>
      <p:sp>
        <p:nvSpPr>
          <p:cNvPr id="5" name="Rounded Rectangle 4"/>
          <p:cNvSpPr/>
          <p:nvPr/>
        </p:nvSpPr>
        <p:spPr>
          <a:xfrm>
            <a:off x="6217920" y="1645920"/>
            <a:ext cx="5212080" cy="201168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10B981"/>
                </a:solidFill>
                <a:latin typeface="Arial"/>
              </a:defRPr>
            </a:pPr>
            <a:r>
              <a:t>🔌 HMIS &amp; EHR Compatibility</a:t>
            </a:r>
          </a:p>
          <a:p>
            <a:pPr>
              <a:defRPr sz="1100">
                <a:solidFill>
                  <a:srgbClr val="94A3B8"/>
                </a:solidFill>
                <a:latin typeface="Arial"/>
              </a:defRPr>
            </a:pPr>
            <a:r>
              <a:t>Ready to interface with standard Hospital Information Systems (HMIS), HL7 / FHIR protocols, and ABDM (Ayushman Bharat Digital Mission) architecture.</a:t>
            </a:r>
          </a:p>
        </p:txBody>
      </p:sp>
      <p:sp>
        <p:nvSpPr>
          <p:cNvPr id="6" name="Rounded Rectangle 5"/>
          <p:cNvSpPr/>
          <p:nvPr/>
        </p:nvSpPr>
        <p:spPr>
          <a:xfrm>
            <a:off x="731520" y="3931920"/>
            <a:ext cx="5212080" cy="201168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F59E0B"/>
                </a:solidFill>
                <a:latin typeface="Arial"/>
              </a:defRPr>
            </a:pPr>
            <a:r>
              <a:t>💰 Low Cost &amp; High ROI</a:t>
            </a:r>
          </a:p>
          <a:p>
            <a:pPr>
              <a:defRPr sz="1100">
                <a:solidFill>
                  <a:srgbClr val="94A3B8"/>
                </a:solidFill>
                <a:latin typeface="Arial"/>
              </a:defRPr>
            </a:pPr>
            <a:r>
              <a:t>Requires minimal hardware — standard hospital reception tablet or computer. Reduces hospital administrative costs and patient churn while boosting daily OPD throughput.</a:t>
            </a:r>
          </a:p>
        </p:txBody>
      </p:sp>
      <p:sp>
        <p:nvSpPr>
          <p:cNvPr id="7" name="Rounded Rectangle 6"/>
          <p:cNvSpPr/>
          <p:nvPr/>
        </p:nvSpPr>
        <p:spPr>
          <a:xfrm>
            <a:off x="6217920" y="3931920"/>
            <a:ext cx="5212080" cy="201168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spcAft>
                <a:spcPts val="800"/>
              </a:spcAft>
              <a:defRPr sz="1400" b="1">
                <a:solidFill>
                  <a:srgbClr val="8B5CF6"/>
                </a:solidFill>
                <a:latin typeface="Arial"/>
              </a:defRPr>
            </a:pPr>
            <a:r>
              <a:t>🛡️ Enterprise Data Privacy</a:t>
            </a:r>
          </a:p>
          <a:p>
            <a:pPr>
              <a:defRPr sz="1100">
                <a:solidFill>
                  <a:srgbClr val="94A3B8"/>
                </a:solidFill>
                <a:latin typeface="Arial"/>
              </a:defRPr>
            </a:pPr>
            <a:r>
              <a:t>Complies with healthcare data protection principles. Client-side token wallet ensures patient medical privacy without permanent tracking of sensitive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spcAft>
                <a:spcPts val="400"/>
              </a:spcAft>
              <a:defRPr sz="1000" b="1">
                <a:solidFill>
                  <a:srgbClr val="0EA5E9"/>
                </a:solidFill>
                <a:latin typeface="Arial"/>
              </a:defRPr>
            </a:pPr>
            <a:r>
              <a:t>IMPACT &amp; ROADMAP // THE FUTURE OF HEALTHFLOW</a:t>
            </a:r>
          </a:p>
          <a:p>
            <a:pPr>
              <a:spcAft>
                <a:spcPts val="400"/>
              </a:spcAft>
              <a:defRPr sz="2200" b="1">
                <a:solidFill>
                  <a:srgbClr val="FFFFFF"/>
                </a:solidFill>
                <a:latin typeface="Arial"/>
              </a:defRPr>
            </a:pPr>
            <a:r>
              <a:t>Quantifiable Healthcare Impact &amp; Strategic Roadmap</a:t>
            </a:r>
          </a:p>
          <a:p>
            <a:pPr>
              <a:defRPr sz="1200">
                <a:solidFill>
                  <a:srgbClr val="94A3B8"/>
                </a:solidFill>
                <a:latin typeface="Arial"/>
              </a:defRPr>
            </a:pPr>
            <a:r>
              <a:t>Delivering measurable benefits to patients, doctors, and healthcare administration.</a:t>
            </a:r>
          </a:p>
        </p:txBody>
      </p:sp>
      <p:sp>
        <p:nvSpPr>
          <p:cNvPr id="4" name="Rounded Rectangle 3"/>
          <p:cNvSpPr/>
          <p:nvPr/>
        </p:nvSpPr>
        <p:spPr>
          <a:xfrm>
            <a:off x="731520" y="1645920"/>
            <a:ext cx="2514600" cy="1828800"/>
          </a:xfrm>
          <a:prstGeom prst="roundRect">
            <a:avLst/>
          </a:prstGeom>
          <a:solidFill>
            <a:srgbClr val="111827"/>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400"/>
              </a:spcAft>
              <a:defRPr sz="2800" b="1">
                <a:solidFill>
                  <a:srgbClr val="0EA5E9"/>
                </a:solidFill>
                <a:latin typeface="Arial"/>
              </a:defRPr>
            </a:pPr>
            <a:r>
              <a:t>78%</a:t>
            </a:r>
          </a:p>
          <a:p>
            <a:pPr>
              <a:spcAft>
                <a:spcPts val="400"/>
              </a:spcAft>
              <a:defRPr sz="1100" b="1">
                <a:solidFill>
                  <a:srgbClr val="FFFFFF"/>
                </a:solidFill>
              </a:defRPr>
            </a:pPr>
            <a:r>
              <a:t>OPD Wait Time Reduction</a:t>
            </a:r>
          </a:p>
          <a:p>
            <a:pPr>
              <a:defRPr sz="950">
                <a:solidFill>
                  <a:srgbClr val="94A3B8"/>
                </a:solidFill>
              </a:defRPr>
            </a:pPr>
            <a:r>
              <a:t>From 142 mins to under 30 mins physical clinic wait.</a:t>
            </a:r>
          </a:p>
        </p:txBody>
      </p:sp>
      <p:sp>
        <p:nvSpPr>
          <p:cNvPr id="5" name="Rounded Rectangle 4"/>
          <p:cNvSpPr/>
          <p:nvPr/>
        </p:nvSpPr>
        <p:spPr>
          <a:xfrm>
            <a:off x="3413455" y="1645920"/>
            <a:ext cx="2514600" cy="1828800"/>
          </a:xfrm>
          <a:prstGeom prst="roundRect">
            <a:avLst/>
          </a:prstGeom>
          <a:solidFill>
            <a:srgbClr val="111827"/>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400"/>
              </a:spcAft>
              <a:defRPr sz="2800" b="1">
                <a:solidFill>
                  <a:srgbClr val="10B981"/>
                </a:solidFill>
                <a:latin typeface="Arial"/>
              </a:defRPr>
            </a:pPr>
            <a:r>
              <a:t>2.4 Hrs</a:t>
            </a:r>
          </a:p>
          <a:p>
            <a:pPr>
              <a:spcAft>
                <a:spcPts val="400"/>
              </a:spcAft>
              <a:defRPr sz="1100" b="1">
                <a:solidFill>
                  <a:srgbClr val="FFFFFF"/>
                </a:solidFill>
              </a:defRPr>
            </a:pPr>
            <a:r>
              <a:t>Time Saved Per Visit</a:t>
            </a:r>
          </a:p>
          <a:p>
            <a:pPr>
              <a:defRPr sz="950">
                <a:solidFill>
                  <a:srgbClr val="94A3B8"/>
                </a:solidFill>
              </a:defRPr>
            </a:pPr>
            <a:r>
              <a:t>Idle waiting replaced with productive hours at home.</a:t>
            </a:r>
          </a:p>
        </p:txBody>
      </p:sp>
      <p:sp>
        <p:nvSpPr>
          <p:cNvPr id="6" name="Rounded Rectangle 5"/>
          <p:cNvSpPr/>
          <p:nvPr/>
        </p:nvSpPr>
        <p:spPr>
          <a:xfrm>
            <a:off x="6095390" y="1645920"/>
            <a:ext cx="2514600" cy="1828800"/>
          </a:xfrm>
          <a:prstGeom prst="roundRect">
            <a:avLst/>
          </a:prstGeom>
          <a:solidFill>
            <a:srgbClr val="111827"/>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400"/>
              </a:spcAft>
              <a:defRPr sz="2800" b="1">
                <a:solidFill>
                  <a:srgbClr val="F59E0B"/>
                </a:solidFill>
                <a:latin typeface="Arial"/>
              </a:defRPr>
            </a:pPr>
            <a:r>
              <a:t>60%</a:t>
            </a:r>
          </a:p>
          <a:p>
            <a:pPr>
              <a:spcAft>
                <a:spcPts val="400"/>
              </a:spcAft>
              <a:defRPr sz="1100" b="1">
                <a:solidFill>
                  <a:srgbClr val="FFFFFF"/>
                </a:solidFill>
              </a:defRPr>
            </a:pPr>
            <a:r>
              <a:t>Waiting Room Decongestion</a:t>
            </a:r>
          </a:p>
          <a:p>
            <a:pPr>
              <a:defRPr sz="950">
                <a:solidFill>
                  <a:srgbClr val="94A3B8"/>
                </a:solidFill>
              </a:defRPr>
            </a:pPr>
            <a:r>
              <a:t>Crowded hallways and infection risk drastically lowered.</a:t>
            </a:r>
          </a:p>
        </p:txBody>
      </p:sp>
      <p:sp>
        <p:nvSpPr>
          <p:cNvPr id="7" name="Rounded Rectangle 6"/>
          <p:cNvSpPr/>
          <p:nvPr/>
        </p:nvSpPr>
        <p:spPr>
          <a:xfrm>
            <a:off x="8777325" y="1645920"/>
            <a:ext cx="2514600" cy="1828800"/>
          </a:xfrm>
          <a:prstGeom prst="roundRect">
            <a:avLst/>
          </a:prstGeom>
          <a:solidFill>
            <a:srgbClr val="111827"/>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spcAft>
                <a:spcPts val="400"/>
              </a:spcAft>
              <a:defRPr sz="2800" b="1">
                <a:solidFill>
                  <a:srgbClr val="8B5CF6"/>
                </a:solidFill>
                <a:latin typeface="Arial"/>
              </a:defRPr>
            </a:pPr>
            <a:r>
              <a:t>100%</a:t>
            </a:r>
          </a:p>
          <a:p>
            <a:pPr>
              <a:spcAft>
                <a:spcPts val="400"/>
              </a:spcAft>
              <a:defRPr sz="1100" b="1">
                <a:solidFill>
                  <a:srgbClr val="FFFFFF"/>
                </a:solidFill>
              </a:defRPr>
            </a:pPr>
            <a:r>
              <a:t>Zero Commute for Teleconsults</a:t>
            </a:r>
          </a:p>
          <a:p>
            <a:pPr>
              <a:defRPr sz="950">
                <a:solidFill>
                  <a:srgbClr val="94A3B8"/>
                </a:solidFill>
              </a:defRPr>
            </a:pPr>
            <a:r>
              <a:t>Eliminates travel expenses for follow-up consults.</a:t>
            </a:r>
          </a:p>
        </p:txBody>
      </p:sp>
      <p:sp>
        <p:nvSpPr>
          <p:cNvPr id="8" name="Rounded Rectangle 7"/>
          <p:cNvSpPr/>
          <p:nvPr/>
        </p:nvSpPr>
        <p:spPr>
          <a:xfrm>
            <a:off x="731520" y="3749039"/>
            <a:ext cx="10728655" cy="2560320"/>
          </a:xfrm>
          <a:prstGeom prst="roundRect">
            <a:avLst/>
          </a:prstGeom>
          <a:solidFill>
            <a:srgbClr val="182136"/>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spcAft>
                <a:spcPts val="1000"/>
              </a:spcAft>
              <a:defRPr sz="1400" b="1">
                <a:solidFill>
                  <a:srgbClr val="0EA5E9"/>
                </a:solidFill>
                <a:latin typeface="Arial"/>
              </a:defRPr>
            </a:pPr>
            <a:r>
              <a:t>🚀 STRATEGIC PRODUCT ROADMAP</a:t>
            </a:r>
          </a:p>
          <a:p>
            <a:pPr>
              <a:spcAft>
                <a:spcPts val="600"/>
              </a:spcAft>
              <a:defRPr sz="1100">
                <a:solidFill>
                  <a:srgbClr val="E2E8F0"/>
                </a:solidFill>
              </a:defRPr>
            </a:pPr>
            <a:r>
              <a:t>• PHASE 1 (COMPLETED): Core Interactive Platform, Remote Queue Tokens, Triage Engine, Staff Simulator, Responsive UI</a:t>
            </a:r>
          </a:p>
          <a:p>
            <a:pPr>
              <a:spcAft>
                <a:spcPts val="600"/>
              </a:spcAft>
              <a:defRPr sz="1100">
                <a:solidFill>
                  <a:srgbClr val="E2E8F0"/>
                </a:solidFill>
              </a:defRPr>
            </a:pPr>
            <a:r>
              <a:t>• PHASE 2 (Q2 2027): WhatsApp Bot Integration for zero-app token generation, SMS fallback alerts for non-smartphone users</a:t>
            </a:r>
          </a:p>
          <a:p>
            <a:pPr>
              <a:spcAft>
                <a:spcPts val="600"/>
              </a:spcAft>
              <a:defRPr sz="1100">
                <a:solidFill>
                  <a:srgbClr val="E2E8F0"/>
                </a:solidFill>
              </a:defRPr>
            </a:pPr>
            <a:r>
              <a:t>• PHASE 3 (Q3 2027): National ABDM (Ayushman Bharat) Health ID linkage, automated electronic prescription sync</a:t>
            </a:r>
          </a:p>
          <a:p>
            <a:pPr>
              <a:spcAft>
                <a:spcPts val="600"/>
              </a:spcAft>
              <a:defRPr sz="1100">
                <a:solidFill>
                  <a:srgbClr val="E2E8F0"/>
                </a:solidFill>
              </a:defRPr>
            </a:pPr>
            <a:r>
              <a:t>• PHASE 4 (Q4 2027): Machine Learning consultation duration predictor using historical patient case complexity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